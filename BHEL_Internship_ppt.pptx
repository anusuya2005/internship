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company and the duration. The internship was fully in enterprise IT at the Digital Transformation Group of BHEL Trichy.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of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you chose DTG: IT-OT convergence, SAP and security from the IT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BHEL is a Maharatna PSU. Trichy was the first plant commissioned after incorporation.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DTG is the unit-level IT organisation. I rotated through all five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weekly themes, each building on the layer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days quickly; highlight the Bash script on day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centre tour, PowerVM, SAN, then SAP architecture and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Firewall rule review, DMZ, endpoint, patching, then ITIL and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legacy model with the consolidated architecture, then the four protection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distribution switch connects to both core switches, so there is no single point of failure. Diagram is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direct path from IT to OT: every session terminates on a DMZ server, with firewalls on both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Presentation, application and database tiers scale independently; changes reach PRD only through DEV-QAS-PRD transports.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Incident-to-change cycle and the priority matrix used in ServiceNow.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tested on training systems only. Mention the Nagios plugin conversion on day 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DMZ matters and why SAN suits HANA while NAS suits shared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Theory became working skill; process discipline was the biggest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Directions where the internship topics can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A89E"/>
                </a:solidFill>
              </a:rPr>
              <a:t>SUMMER INTERNSHIP REVIEW  |  IT3711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Industrial Internship at BHEL Tiruchirappalli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6"/>
                </a:solidFill>
              </a:rPr>
              <a:t>Enterprise IT in the Digital Transformation Group (DTG)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Anusuya V  |  810023205032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C9D6E6"/>
                </a:solidFill>
              </a:rPr>
              <a:t>B.Tech Information Technology, Seventh Semester  |  2025-2026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C9D6E6"/>
                </a:solidFill>
              </a:rPr>
              <a:t>University College of Engineering (BIT Campus), Anna University, Tiruchirappalli - 620 024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1737360" cy="868680"/>
          </a:xfrm>
          <a:prstGeom prst="rect">
            <a:avLst/>
          </a:prstGeom>
          <a:solidFill>
            <a:srgbClr val="123963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776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A89E"/>
                </a:solidFill>
              </a:rPr>
              <a:t>30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749040"/>
            <a:ext cx="1737360" cy="868680"/>
          </a:xfrm>
          <a:prstGeom prst="rect">
            <a:avLst/>
          </a:prstGeom>
          <a:solidFill>
            <a:srgbClr val="123963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3776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A89E"/>
                </a:solidFill>
              </a:rPr>
              <a:t>6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Weekly themes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3749040"/>
            <a:ext cx="1737360" cy="868680"/>
          </a:xfrm>
          <a:prstGeom prst="rect">
            <a:avLst/>
          </a:prstGeom>
          <a:solidFill>
            <a:srgbClr val="123963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3776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A89E"/>
                </a:solidFill>
              </a:rPr>
              <a:t>5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DTG teams explored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4023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143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Objective and motivation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4023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14884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2011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Company profile: BHEL Trichy and DTG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2880360"/>
            <a:ext cx="4023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2880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30-day work plan and weekly highlights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3749040"/>
            <a:ext cx="4023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388620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3749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Architectures studied: network, IT-OT DMZ, SAP S/4HANA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663440" y="1143000"/>
            <a:ext cx="4023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00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394960" y="1143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Enterprise IT system and ITIL service management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663440" y="2011680"/>
            <a:ext cx="4023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00600" y="214884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006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394960" y="2011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Hands-on work: scripts and configurations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663440" y="2880360"/>
            <a:ext cx="4023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00600" y="301752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8006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394960" y="2880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Security and storage analysis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4663440" y="3749040"/>
            <a:ext cx="4023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00600" y="388620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8006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5394960" y="3749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Learning outcomes and future scope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Objective and Motivation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02336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402336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07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572768"/>
            <a:ext cx="374904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See how B.Tech IT concepts behave at enterprise scale, where availability, auditability and security are design requirements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Gain exposure to IBM Power/PowerVM, SAN, SAP S/4HANA, Check Point and ITSM tools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Learn ITIL 4 discipline: request, approve, schedule, implement with rollback, review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097280"/>
            <a:ext cx="402336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00600" y="1207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1572768"/>
            <a:ext cx="374904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Industry 4.0 converges IT (ERP, directory, data centre) with OT (production floor)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ERP and the network become the nervous system of the factory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OT favours availability and safety and often lacks authentication, so a DMZ with firewalls on both sides is the accepted solution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DTG owns this IT boundary at BHEL Trichy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E3F4F2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Scope and safety: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enterprise IT only. All hands-on work used read-only consoles, sandbox systems and training machines; no change was made to any production system.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Company Profile: BHEL Tiruchirappalli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1965960" cy="12344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1612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A89E"/>
                </a:solidFill>
              </a:rPr>
              <a:t>1964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6916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Incorporated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13 November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42032" y="1097280"/>
            <a:ext cx="1965960" cy="12344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42032" y="11612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A89E"/>
                </a:solidFill>
              </a:rPr>
              <a:t>2013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2587752" y="16916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Maharatna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status conferred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26864" y="1097280"/>
            <a:ext cx="1965960" cy="12344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26864" y="11612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A89E"/>
                </a:solidFill>
              </a:rPr>
              <a:t>16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4672584" y="16916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Manufacturing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divisions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11696" y="1097280"/>
            <a:ext cx="1965960" cy="12344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11696" y="11612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A89E"/>
                </a:solidFill>
              </a:rPr>
              <a:t>~53%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6757416" y="16916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Share of India's installed thermal,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hydro and nuclear capacity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560320"/>
            <a:ext cx="40233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2560320"/>
            <a:ext cx="402336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Trichy campus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3035808"/>
            <a:ext cx="3749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First plant after incorporation; production began May 1965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High Pressure Boiler Plant (HPBP): one of the largest boiler-manufacturing facilities in the world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Seamless Steel Tube Plant (SSTP): supplies tubes to HPBP and external customers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663440" y="2560320"/>
            <a:ext cx="40233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3440" y="2560320"/>
            <a:ext cx="402336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00600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Why IT matters here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800600" y="3035808"/>
            <a:ext cx="3749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Project-based manufacturing with multi-year orders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Thousands of purchase orders, production orders and inspection lots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One campus network, one data centre and one SAP landscape shared by HPBP and SSTP, operated by DTG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Digital Transformation Group (DTG)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platforms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Infrastructure and Data Centre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Servers, virtualisation, storage, backup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IBM Power, PowerVM, FlashSystem SAN, NAS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Network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LAN/WAN design, VLANs, routing, QoS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Core, distribution and access switches, WAN routers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Applications and ERP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SAP Basis, transports, module support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SAP S/4HANA, SAP GUI, Fiori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Security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Firewalls, endpoint protection, access control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Check Point Quantum, Harmony Endpoint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End-User Support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L1-L2-L3 helpdesk, tickets, SLAs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ServiceNow, Nagios, PRTG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6"/>
                </a:solidFill>
              </a:rPr>
              <a:t>A typical DTG day: review overnight alerts and backup logs, resolve tickets, coordinate changes, document and hand over the shift.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30-Day Internship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2984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88720"/>
            <a:ext cx="1298448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1887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1737360"/>
            <a:ext cx="1152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Enterprise networking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283464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6"/>
                </a:solidFill>
              </a:rPr>
              <a:t>Days 1-5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837944" y="1188720"/>
            <a:ext cx="12984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37944" y="1188720"/>
            <a:ext cx="1298448" cy="4572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37944" y="11887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911096" y="1737360"/>
            <a:ext cx="1152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Directory services and Linux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911096" y="283464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6"/>
                </a:solidFill>
              </a:rPr>
              <a:t>Days 6-10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18688" y="1188720"/>
            <a:ext cx="12984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18688" y="1188720"/>
            <a:ext cx="1298448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18688" y="11887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291840" y="1737360"/>
            <a:ext cx="1152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Data centre, PowerVM, storage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291840" y="283464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6"/>
                </a:solidFill>
              </a:rPr>
              <a:t>Days 11-15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99432" y="1188720"/>
            <a:ext cx="12984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99432" y="1188720"/>
            <a:ext cx="1298448" cy="4572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99432" y="11887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672584" y="1737360"/>
            <a:ext cx="1152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SAP S/4HANA and Basis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672584" y="283464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6"/>
                </a:solidFill>
              </a:rPr>
              <a:t>Days 16-20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980176" y="1188720"/>
            <a:ext cx="12984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80176" y="1188720"/>
            <a:ext cx="1298448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80176" y="11887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053328" y="1737360"/>
            <a:ext cx="1152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Cybersecurity and firewalls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053328" y="283464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6"/>
                </a:solidFill>
              </a:rPr>
              <a:t>Days 21-25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360920" y="1188720"/>
            <a:ext cx="12984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360920" y="1188720"/>
            <a:ext cx="1298448" cy="4572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60920" y="11887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6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434072" y="1737360"/>
            <a:ext cx="1152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ITIL service management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434072" y="283464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6"/>
                </a:solidFill>
              </a:rPr>
              <a:t>Days 26-30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E3F4F2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Bottom-up learning path: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network, then servers and directory, data centre, ERP, security, and finally the service-management processes that tie every layer together.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Weeks 1-2: Networking, Directory Services and Linux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A89E"/>
                </a:solidFill>
              </a:rPr>
              <a:t>Week 1: Enterprise networking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261872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261872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2618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2618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Induction and IT security briefing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Acceptable Use Policy; the five DTG teams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874520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874520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1874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Campus network topology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Core-distribution-access with dual uplinks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487168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487168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4871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2487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IP addressing and VLSM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/22 office, /24 voice, /26 servers, /30 links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099816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099816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0998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4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30998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VLANs and 802.1Q trunking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show vlan brief, trunks, voice VLAN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712464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712464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71246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5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51560" y="37124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Inter-VLAN routing, WAN and QoS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SVIs, first-hop redundancy, ping/traceroute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663440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A89E"/>
                </a:solidFill>
              </a:rPr>
              <a:t>Week 2: Directory services and Linux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663440" y="1261872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1261872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63440" y="12618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6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5257800" y="12618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DNS and DHCP in practice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nslookup; DORA exchange in Wireshark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663440" y="1874520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63440" y="1874520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663440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7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257800" y="1874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Active Directory and Group Policy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OU structure, groups, user lifecycle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663440" y="2487168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63440" y="2487168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663440" y="24871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8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5257800" y="2487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Linux administration via PuTTY/SSH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Key-based login, systemctl, core commands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663440" y="3099816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663440" y="3099816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663440" y="30998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9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5257800" y="30998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Bash server health-check script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CPU, memory, disk with 80/90% thresholds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663440" y="3712464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663440" y="3712464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663440" y="371246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10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5257800" y="37124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Log analysis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journalctl, grep, awk: failed logins per IP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Weeks 3-4: Data Centre, Storage and SAP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A89E"/>
                </a:solidFill>
              </a:rPr>
              <a:t>Week 3: Data centre, PowerVM, storage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261872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261872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2618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2618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Data centre facility tour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UPS, generators, cooling, fire suppression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874520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874520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1874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IBM Power Systems and PowerVM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LPARs, dedicated vs shared processors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487168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487168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4871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2487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HMC and Live Partition Mobility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Move running partitions without downtime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099816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099816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0998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14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30998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SAN, Fibre Channel zoning, RAID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WWPN zoning; multipath to volumes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712464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712464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71246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15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51560" y="37124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Backup, high availability, DR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3-2-1 rule; reviewing backup job reports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663440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A89E"/>
                </a:solidFill>
              </a:rPr>
              <a:t>Week 4: SAP S/4HANA and Basis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663440" y="1261872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1261872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63440" y="12618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16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5257800" y="12618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Three-tier architecture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SAP GUI and Fiori, ASCS, application servers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663440" y="1874520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63440" y="1874520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663440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17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257800" y="1874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Landscape and transports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DEV-QAS-PRD; SE09/SE10, STMS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663440" y="2487168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63440" y="2487168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663440" y="24871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18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5257800" y="2487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Basis monitoring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ST22, SM21, SM37 daily health check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663440" y="3099816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663440" y="3099816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663440" y="30998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19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5257800" y="30998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User administration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SU01, PFCG, segregation of duties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663440" y="3712464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663440" y="3712464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663440" y="371246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20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5257800" y="37124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Functional modules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ME21N, MIGO, MMBE, CO03 in a sandbox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Weeks 5-6: Cybersecurity and ITIL Service Management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A89E"/>
                </a:solidFill>
              </a:rPr>
              <a:t>Week 5: Cybersecurity and firewalls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261872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261872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2618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2618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Security policies, defence in depth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CIA triad; availability priority on OT side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874520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874520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1874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Check Point rule-base review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Broad rules, zero-hit rules, missing comments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487168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487168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4871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2487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IT-OT DMZ policy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Every IT-to-OT session ends on a DMZ host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099816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099816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0998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24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30998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Harmony Endpoint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Anti-malware, anti-ransomware, forensics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712464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712464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71246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25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51560" y="37124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Patch management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Prioritise by CVSS, exposure, criticality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663440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A89E"/>
                </a:solidFill>
              </a:rPr>
              <a:t>Week 6: ITIL and consolidation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663440" y="1261872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1261872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63440" y="12618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26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5257800" y="12618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ITIL 4 and helpdesk shadowing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Incidents vs service requests; ticket fields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663440" y="1874520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63440" y="1874520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663440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27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257800" y="1874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Change Advisory Board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RFC, rollback plan, approvals and deferrals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663440" y="2487168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63440" y="2487168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663440" y="24871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28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5257800" y="2487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Nagios and PRTG monitoring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Health-check script as a Nagios plugin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663440" y="3099816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663440" y="3099816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663440" y="30998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29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5257800" y="30998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Problem management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Five-whys on a recurring disk-space alert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663440" y="3712464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663440" y="3712464"/>
            <a:ext cx="502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663440" y="371246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30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5257800" y="37124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Consolidation and presentation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B6676"/>
                </a:solidFill>
              </a:rPr>
              <a:t>Record reviewed; team feedback received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BHEL Enterprise IT System: From Silos to a Consolidated Platform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39319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Legacy model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572768"/>
            <a:ext cx="36576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Separate departmental applications, each with its own master data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Nightly file transfers or manual re-entry; stock reconciled only at shift or month end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No redundant power or tested backups; flat networks let one infected PC affect a building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A89E"/>
                </a:solidFill>
              </a:rPr>
              <a:t>&gt;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39319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204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Consolidated architecture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1572768"/>
            <a:ext cx="36576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Captive data centre: N+1 UPS and cooling, dual power feeds, generators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SAP HANA on IBM Power Systems with PowerVM partitions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SAN (FlashSystem, dual FC fabrics) for block storage; NAS for shared files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3383280"/>
            <a:ext cx="1965960" cy="1188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456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</a:rPr>
              <a:t>High availability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HANA System Replication; automatic failover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542032" y="3383280"/>
            <a:ext cx="1965960" cy="1188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33472" y="3456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</a:rPr>
              <a:t>Disaster recovery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633472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Async replication to a recovery site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26864" y="3383280"/>
            <a:ext cx="1965960" cy="1188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18304" y="3456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</a:rPr>
              <a:t>RAID 6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718304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Dual parity survives two drive failures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711696" y="3383280"/>
            <a:ext cx="1965960" cy="1188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03136" y="3456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</a:rPr>
              <a:t>3-2-1 backup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803136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3 copies, 2 media, 1 off-site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Campus Network: Core-Distribution-Access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972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676"/>
                </a:solidFill>
              </a:rPr>
              <a:t>EDGE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371600" y="1097280"/>
            <a:ext cx="2011680" cy="411480"/>
          </a:xfrm>
          <a:prstGeom prst="rect">
            <a:avLst/>
          </a:prstGeom>
          <a:solidFill>
            <a:srgbClr val="3B4A5E"/>
          </a:solidFill>
          <a:ln w="9525">
            <a:solidFill>
              <a:srgbClr val="3B4A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7160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Internet (ISP)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0" y="1097280"/>
            <a:ext cx="2011680" cy="411480"/>
          </a:xfrm>
          <a:prstGeom prst="rect">
            <a:avLst/>
          </a:prstGeom>
          <a:solidFill>
            <a:srgbClr val="3B4A5E"/>
          </a:solidFill>
          <a:ln w="9525">
            <a:solidFill>
              <a:srgbClr val="3B4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BHEL WAN (other units)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6002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676"/>
                </a:solidFill>
              </a:rPr>
              <a:t>PERIMETER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371600" y="1600200"/>
            <a:ext cx="4114800" cy="41148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71600" y="1600200"/>
            <a:ext cx="4114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Check Point NGFW cluster (active/standby)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1031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676"/>
                </a:solidFill>
              </a:rPr>
              <a:t>CORE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371600" y="2103120"/>
            <a:ext cx="1920240" cy="45720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7160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CORE-SW-01 (L3)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566160" y="2103120"/>
            <a:ext cx="1920240" cy="45720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6616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CORE-SW-02 (L3)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29184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B6676"/>
                </a:solidFill>
              </a:rPr>
              <a:t>LACP</a:t>
            </a:r>
            <a:endParaRPr lang="en-US" sz="6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26517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676"/>
                </a:solidFill>
              </a:rPr>
              <a:t>DISTRIBUTION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371600" y="2651760"/>
            <a:ext cx="786384" cy="457200"/>
          </a:xfrm>
          <a:prstGeom prst="rect">
            <a:avLst/>
          </a:prstGeom>
          <a:solidFill>
            <a:srgbClr val="13A89E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371600" y="2651760"/>
            <a:ext cx="7863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HPBP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194560" y="2651760"/>
            <a:ext cx="786384" cy="457200"/>
          </a:xfrm>
          <a:prstGeom prst="rect">
            <a:avLst/>
          </a:prstGeom>
          <a:solidFill>
            <a:srgbClr val="13A89E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94560" y="2651760"/>
            <a:ext cx="7863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SSTP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017520" y="2651760"/>
            <a:ext cx="786384" cy="457200"/>
          </a:xfrm>
          <a:prstGeom prst="rect">
            <a:avLst/>
          </a:prstGeom>
          <a:solidFill>
            <a:srgbClr val="13A89E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017520" y="2651760"/>
            <a:ext cx="7863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centre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840480" y="2651760"/>
            <a:ext cx="786384" cy="457200"/>
          </a:xfrm>
          <a:prstGeom prst="rect">
            <a:avLst/>
          </a:prstGeom>
          <a:solidFill>
            <a:srgbClr val="13A89E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840480" y="2651760"/>
            <a:ext cx="7863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Admin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663440" y="2651760"/>
            <a:ext cx="786384" cy="457200"/>
          </a:xfrm>
          <a:prstGeom prst="rect">
            <a:avLst/>
          </a:prstGeom>
          <a:solidFill>
            <a:srgbClr val="13A89E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63440" y="2651760"/>
            <a:ext cx="7863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IT-OT DMZ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32004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676"/>
                </a:solidFill>
              </a:rPr>
              <a:t>ACCESS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371600" y="3200400"/>
            <a:ext cx="78638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371600" y="3200400"/>
            <a:ext cx="7863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2545"/>
                </a:solidFill>
              </a:rPr>
              <a:t>PoE access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194560" y="3200400"/>
            <a:ext cx="78638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194560" y="3200400"/>
            <a:ext cx="7863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2545"/>
                </a:solidFill>
              </a:rPr>
              <a:t>PoE access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017520" y="3200400"/>
            <a:ext cx="78638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017520" y="3200400"/>
            <a:ext cx="7863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2545"/>
                </a:solidFill>
              </a:rPr>
              <a:t>Top-of-rack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840480" y="3200400"/>
            <a:ext cx="78638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840480" y="3200400"/>
            <a:ext cx="7863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2545"/>
                </a:solidFill>
              </a:rPr>
              <a:t>PoE access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663440" y="3200400"/>
            <a:ext cx="78638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663440" y="3200400"/>
            <a:ext cx="7863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2545"/>
                </a:solidFill>
              </a:rPr>
              <a:t>DMZ servers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3794760"/>
            <a:ext cx="5029200" cy="365760"/>
          </a:xfrm>
          <a:prstGeom prst="rect">
            <a:avLst/>
          </a:prstGeom>
          <a:solidFill>
            <a:srgbClr val="E3F4F2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5720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VLAN 10 Data | 20 Voice | 30 Plant | 100 SAP | 999 Mgmt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669280" y="1097280"/>
            <a:ext cx="30175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669280" y="1097280"/>
            <a:ext cx="301752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80644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Design highlights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5806440" y="1572768"/>
            <a:ext cx="274320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Dual uplinks from each distribution switch to both cores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SVI default gateways with first-hop redundancy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802.1Q VLANs isolate office, voice, plant, SAP and management traffic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Port security, voice VLAN and BPDU guard at access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Stateful NGFW: IPS, app control, NAT, VPN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6"/>
                </a:solidFill>
              </a:rPr>
              <a:t>Illustrative; not the actual BHEL configuration.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IT-OT DMZ: Zoned Security (Purdue Model)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120640" cy="365760"/>
          </a:xfrm>
          <a:prstGeom prst="rect">
            <a:avLst/>
          </a:prstGeom>
          <a:solidFill>
            <a:srgbClr val="3B4A5E"/>
          </a:solidFill>
          <a:ln w="9525">
            <a:solidFill>
              <a:srgbClr val="3B4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097280"/>
            <a:ext cx="5120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LEVEL 5: Internet / external networks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5120640" cy="54864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554480"/>
            <a:ext cx="5120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LEVEL 4: Enterprise IT zone (DTG)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SAP S/4HANA | Active Directory | E-mail | User PCs | Monitoring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5120640" cy="27432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FIREWALL TIER 1: IT-facing, named host-to-host rules only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560320"/>
            <a:ext cx="5120640" cy="731520"/>
          </a:xfrm>
          <a:prstGeom prst="rect">
            <a:avLst/>
          </a:prstGeom>
          <a:solidFill>
            <a:srgbClr val="13A89E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560320"/>
            <a:ext cx="51206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LEVEL 3.5: IT-OT DMZ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relay | Patch and AV relay | SFTP server | MFA jump host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Every IT-to-OT session terminates here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5120640" cy="27432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383280"/>
            <a:ext cx="51206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FIREWALL TIER 2: OT-facing, DMZ hosts to OT hosts only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3749040"/>
            <a:ext cx="5120640" cy="548640"/>
          </a:xfrm>
          <a:prstGeom prst="rect">
            <a:avLst/>
          </a:prstGeom>
          <a:solidFill>
            <a:srgbClr val="3B4A5E"/>
          </a:solidFill>
          <a:ln w="9525">
            <a:solidFill>
              <a:srgbClr val="3B4A5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749040"/>
            <a:ext cx="5120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LEVEL 3 AND BELOW: Operational technology zone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Site operations servers | Supervisory and control networks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60720" y="1097280"/>
            <a:ext cx="29260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0" y="1097280"/>
            <a:ext cx="292608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97880" y="1207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Why it works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97880" y="1572768"/>
            <a:ext cx="265176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Compromised office PC or stolen credential has no route to control networks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OT protocols such as Modbus/TCP lack authentication, so they stay isolated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Ransomware over SMB/RDP cannot cross the boundary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All vendor sessions via MFA jump host are logged (IEC 62443 zones and conduits)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SAP S/4HANA: Three-Tier Architecture and Landscape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120640" cy="640080"/>
          </a:xfrm>
          <a:prstGeom prst="rect">
            <a:avLst/>
          </a:prstGeom>
          <a:solidFill>
            <a:srgbClr val="13A89E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097280"/>
            <a:ext cx="5120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TIER 1: PRESENTATION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SAP GUI | Fiori Launchpad (HTTPS) via Web Dispatcher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5120640" cy="86868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828800"/>
            <a:ext cx="51206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TIER 2: APPLICATION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ASCS: message server + enqueue server (lock table)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PAS / AAS: dispatcher with DIA, BTC, UPD, SPO work processes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5120640" cy="777240"/>
          </a:xfrm>
          <a:prstGeom prst="rect">
            <a:avLst/>
          </a:prstGeom>
          <a:solidFill>
            <a:srgbClr val="3B4A5E"/>
          </a:solidFill>
          <a:ln w="9525">
            <a:solidFill>
              <a:srgbClr val="3B4A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788920"/>
            <a:ext cx="5120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TIER 3: DATABASE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SAP HANA in-memory column store on a PowerVM LPAR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/hana/data and /hana/log on SAN, then backup tier and DR replica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676"/>
                </a:solidFill>
              </a:rPr>
              <a:t>Transport route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828800" y="3657600"/>
            <a:ext cx="914400" cy="365760"/>
          </a:xfrm>
          <a:prstGeom prst="rect">
            <a:avLst/>
          </a:prstGeom>
          <a:solidFill>
            <a:srgbClr val="13A89E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28800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3657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676"/>
                </a:solidFill>
              </a:rPr>
              <a:t>&gt;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291840" y="3657600"/>
            <a:ext cx="914400" cy="36576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91840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QAS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206240" y="3657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676"/>
                </a:solidFill>
              </a:rPr>
              <a:t>&gt;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754880" y="3657600"/>
            <a:ext cx="914400" cy="36576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54880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PRD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8288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6"/>
                </a:solidFill>
              </a:rPr>
              <a:t>release, then test + CAB approval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760720" y="1097280"/>
            <a:ext cx="29260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0" y="1097280"/>
            <a:ext cx="292608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897880" y="1207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Key points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897880" y="1572768"/>
            <a:ext cx="265176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GUI and Fiori are thin clients; logic runs on application servers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No change is ever made directly in Production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All postings land in the Universal Journal (ACDOCA); stock in MATDOC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MM, PP, QM, PM, SD and FICO share one data model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ITIL 4 Service Management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A89E"/>
                </a:solidFill>
              </a:rPr>
              <a:t>Incident-to-change cycle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057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371600"/>
            <a:ext cx="36576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371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13716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Log incident against CI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1371600"/>
            <a:ext cx="2057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06040" y="1371600"/>
            <a:ext cx="36576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06040" y="1371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044952" y="13716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Set priority and start SLA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103120"/>
            <a:ext cx="2057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103120"/>
            <a:ext cx="36576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1031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96112" y="210312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Route to resolver group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606040" y="2103120"/>
            <a:ext cx="2057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606040" y="2103120"/>
            <a:ext cx="36576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06040" y="21031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044952" y="210312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Escalate if SLA at risk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2834640"/>
            <a:ext cx="2057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2834640"/>
            <a:ext cx="36576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28346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96112" y="28346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Restore and resolve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606040" y="2834640"/>
            <a:ext cx="2057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06040" y="2834640"/>
            <a:ext cx="365760" cy="64008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606040" y="28346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3044952" y="28346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Problem record for P1/recurring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3566160"/>
            <a:ext cx="2057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" y="3566160"/>
            <a:ext cx="365760" cy="64008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7200" y="35661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96112" y="3566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RFC with rollback; CAB approval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606040" y="3566160"/>
            <a:ext cx="2057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606040" y="3566160"/>
            <a:ext cx="365760" cy="64008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606040" y="35661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3044952" y="3566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Implement, review, update KB/CMDB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93776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A89E"/>
                </a:solidFill>
              </a:rPr>
              <a:t>Priority = impact x urgency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71600"/>
          <a:ext cx="3749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82296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Impact / Urgency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</a:rPr>
                        <a:t>High (plant-wide)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P1 Critical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P2 High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P3 Medium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</a:rPr>
                        <a:t>Medium (department)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P2 High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P3 Medium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P4 Low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67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</a:rPr>
                        <a:t>Low (single user)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P3 Medium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P4 Low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6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P4 Low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676"/>
                    </a:solidFill>
                  </a:tcPr>
                </a:tc>
              </a:tr>
            </a:tbl>
          </a:graphicData>
        </a:graphic>
      </p:graphicFrame>
      <p:sp>
        <p:nvSpPr>
          <p:cNvPr id="41" name="Shape 37"/>
          <p:cNvSpPr/>
          <p:nvPr/>
        </p:nvSpPr>
        <p:spPr>
          <a:xfrm>
            <a:off x="4937760" y="3383280"/>
            <a:ext cx="3749040" cy="1097280"/>
          </a:xfrm>
          <a:prstGeom prst="rect">
            <a:avLst/>
          </a:prstGeom>
          <a:solidFill>
            <a:srgbClr val="E3F4F2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074920" y="33832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 P1 triggers the major incident procedure and a mandatory problem record after service is restored. Tool: ServiceNow with CMDB, assignment groups and SLA timers.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Hands-On Work: Scripts and Configurations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6517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Bash health check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572768"/>
            <a:ext cx="23774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CPU from two /proc/stat samples; memory from MemAvailable; disk from df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Warning 80%, critical 90%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Timestamped log and Nagios exit codes 0/1/2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Extended with awk to count failed SSH logins per IP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6517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97280"/>
            <a:ext cx="265176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Cisco VLAN and port security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1572768"/>
            <a:ext cx="23774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VLAN 10 data, 20 voice, unused native VLAN 888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Access ports with voice VLAN, sticky MAC, max 3, violation restrict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PortFast with BPDU guard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Hardened trunk: allowed VLANs only, nonegotiate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1097280"/>
            <a:ext cx="26517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1097280"/>
            <a:ext cx="265176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7220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PowerShell AD report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1572768"/>
            <a:ext cx="23774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Lists users in an OU with logon and password details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Shows enabled, locked-out and password-age status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Flags accounts inactive for more than 90 days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Exports to CSV for access reviews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Also: VLSM address plan, SAP sandbox order trace (MM-PP-QM-SD-FICO), Check Point rule-base review checklist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Analysis: Security and Storage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02336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402336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07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Security analysis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572768"/>
            <a:ext cx="374904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DMZ removes direct attack paths into systems whose compromise has physical consequences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Hardened DMZ hosts behind two firewall tiers: a compromised office PC has no route to OT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Malware is contained; OT updates are staged on DMZ relays, not downloaded from the internet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Few enforcement points mean every flow is logged and attributable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097280"/>
            <a:ext cx="402336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00600" y="1207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Storage analysis: SAN vs NAS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645920"/>
          <a:ext cx="3749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SAN (FC)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NAS (NFS/SMB)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5"/>
                          </a:solidFill>
                        </a:rPr>
                        <a:t>Small random I/O latency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~0.1-0.5 ms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~0.5-3 ms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5"/>
                          </a:solidFill>
                        </a:rPr>
                        <a:t>Metadata overhead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None at storage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Significant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5"/>
                          </a:solidFill>
                        </a:rPr>
                        <a:t>Best for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HANA data/log, VM datastores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File shares, transport dir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4800600" y="36118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</a:rPr>
              <a:t>SAN has a shorter I/O path: host, multipath driver, HBA, lossless FC fabric, array cache. NAS adds the NFS/SMB stack, TCP/IP and shared Ethernet. Hence SAN for the latency-critical HANA redo log.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Learning Outcomes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402336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07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Theory into practice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572768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Subnetting became an address plan with capacity and security consequences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OS concepts became Bash scripts and log analysis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097280"/>
            <a:ext cx="402336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00600" y="1207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Platform exposure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1572768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IBM Power/PowerVM, SAN, SAP S/4HANA, Check Point, ServiceNow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Traced an order through MM, PP, QM, SD and FICO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926080"/>
            <a:ext cx="402336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3035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Security mindset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3401568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Firewall rule-base review and IT-OT DMZ design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Defence in depth, patching and vulnerability prioritisation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63440" y="2926080"/>
            <a:ext cx="40233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2926080"/>
            <a:ext cx="402336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3035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Enterprise discipline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800600" y="3401568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RFC, CAB approval, maintenance window and rollback plan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Every request logged and measured against an SLA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Future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6"/>
                </a:solidFill>
              </a:rPr>
              <a:t>BHEL Tiruchirappalli  |  Summer Internship Review  |  Anusuya V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91440" cy="59436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097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IoT integration with SAP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09728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Sensor data via the IT-OT DMZ creating Plant Maintenance notifications for predictive maintenance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783080"/>
            <a:ext cx="91440" cy="59436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1783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Zero-Trust architecture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178308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Verify identity, device posture and context; micro-segment data-centre workloads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468880"/>
            <a:ext cx="91440" cy="59436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4688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AI in IT service management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246888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Ticket classification, alert correlation and virtual agents for routine requests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154680"/>
            <a:ext cx="91440" cy="59436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154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Hybrid cloud migration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3383280" y="315468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Non-production SAP, DR and analytics on a government-empanelled cloud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3840480"/>
            <a:ext cx="91440" cy="59436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3840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Infrastructure automation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3383280" y="384048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Ansible for builds, patching and switch config; drift detection linked to ServiceNow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554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A89E"/>
                </a:solidFill>
              </a:rPr>
              <a:t>Questions and feedback are welcome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Anusuya V  |  810023205032  |  B.Tech Information Technology, Anna University, Tiruchirappalli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Internship at BHEL Tiruchirappalli</dc:title>
  <dc:subject>PptxGenJS Presentation</dc:subject>
  <dc:creator>Anusuya V</dc:creator>
  <cp:lastModifiedBy>Anusuya V</cp:lastModifiedBy>
  <cp:revision>1</cp:revision>
  <dcterms:created xsi:type="dcterms:W3CDTF">2026-10-21T16:10:07Z</dcterms:created>
  <dcterms:modified xsi:type="dcterms:W3CDTF">2026-10-21T16:10:07Z</dcterms:modified>
</cp:coreProperties>
</file>